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Roboto" panose="02000000000000000000" pitchFamily="2" charset="0"/>
      <p:regular r:id="rId12"/>
    </p:embeddedFont>
    <p:embeddedFont>
      <p:font typeface="Roboto Bold" panose="020B0604020202020204" charset="0"/>
      <p:regular r:id="rId13"/>
    </p:embeddedFont>
    <p:embeddedFont>
      <p:font typeface="Roboto Condensed" panose="02000000000000000000" pitchFamily="2" charset="0"/>
      <p:regular r:id="rId14"/>
      <p:bold r:id="rId15"/>
    </p:embeddedFont>
    <p:embeddedFont>
      <p:font typeface="Roboto Condensed Bold" panose="020000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79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857625"/>
          </a:xfrm>
          <a:custGeom>
            <a:avLst/>
            <a:gdLst/>
            <a:ahLst/>
            <a:cxnLst/>
            <a:rect l="l" t="t" r="r" b="b"/>
            <a:pathLst>
              <a:path w="657225" h="3857625">
                <a:moveTo>
                  <a:pt x="0" y="0"/>
                </a:moveTo>
                <a:lnTo>
                  <a:pt x="657225" y="0"/>
                </a:lnTo>
                <a:lnTo>
                  <a:pt x="6572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4752" y="911031"/>
            <a:ext cx="8266176" cy="174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4"/>
              </a:lnSpc>
            </a:pPr>
            <a:r>
              <a:rPr lang="en-US" sz="6413" b="1" spc="128">
                <a:solidFill>
                  <a:srgbClr val="0F2C4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DESIGN, DEVELOPMENT AND DEPLOYMENT OF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4752" y="2814135"/>
            <a:ext cx="5852160" cy="1833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732" b="1" spc="134">
                <a:solidFill>
                  <a:srgbClr val="E6673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CRM AND HRMS WEB PORTALS</a:t>
            </a:r>
          </a:p>
        </p:txBody>
      </p:sp>
      <p:sp>
        <p:nvSpPr>
          <p:cNvPr id="7" name="Freeform 7"/>
          <p:cNvSpPr/>
          <p:nvPr/>
        </p:nvSpPr>
        <p:spPr>
          <a:xfrm>
            <a:off x="1304925" y="4924425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44752" y="7189777"/>
            <a:ext cx="2231136" cy="573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b="1">
                <a:solidFill>
                  <a:srgbClr val="E66736"/>
                </a:solidFill>
                <a:latin typeface="Roboto Bold"/>
                <a:ea typeface="Roboto Bold"/>
                <a:cs typeface="Roboto Bold"/>
                <a:sym typeface="Roboto Bold"/>
              </a:rPr>
              <a:t>Aadish Jain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4752" y="7831832"/>
            <a:ext cx="3950208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0F2C44"/>
                </a:solidFill>
                <a:latin typeface="Roboto"/>
                <a:ea typeface="Roboto"/>
                <a:cs typeface="Roboto"/>
                <a:sym typeface="Roboto"/>
              </a:rPr>
              <a:t>B.Tech CSE, IILM University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4752" y="8424378"/>
            <a:ext cx="4059936" cy="70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372">
                <a:solidFill>
                  <a:srgbClr val="0F2C44"/>
                </a:solidFill>
                <a:latin typeface="Roboto"/>
                <a:ea typeface="Roboto"/>
                <a:cs typeface="Roboto"/>
                <a:sym typeface="Roboto"/>
              </a:rPr>
              <a:t>Artificial Intelligence &amp;</a:t>
            </a:r>
          </a:p>
          <a:p>
            <a:pPr algn="l">
              <a:lnSpc>
                <a:spcPts val="2728"/>
              </a:lnSpc>
            </a:pPr>
            <a:r>
              <a:rPr lang="en-US" sz="2372">
                <a:solidFill>
                  <a:srgbClr val="0F2C44"/>
                </a:solidFill>
                <a:latin typeface="Roboto"/>
                <a:ea typeface="Roboto"/>
                <a:cs typeface="Roboto"/>
                <a:sym typeface="Roboto"/>
              </a:rPr>
              <a:t>Information Technology Intern</a:t>
            </a:r>
          </a:p>
        </p:txBody>
      </p:sp>
      <p:sp>
        <p:nvSpPr>
          <p:cNvPr id="11" name="Freeform 11"/>
          <p:cNvSpPr/>
          <p:nvPr/>
        </p:nvSpPr>
        <p:spPr>
          <a:xfrm>
            <a:off x="6524625" y="2571750"/>
            <a:ext cx="10677525" cy="7077075"/>
          </a:xfrm>
          <a:custGeom>
            <a:avLst/>
            <a:gdLst/>
            <a:ahLst/>
            <a:cxnLst/>
            <a:rect l="l" t="t" r="r" b="b"/>
            <a:pathLst>
              <a:path w="10677525" h="7077075">
                <a:moveTo>
                  <a:pt x="0" y="0"/>
                </a:moveTo>
                <a:lnTo>
                  <a:pt x="10677525" y="0"/>
                </a:lnTo>
                <a:lnTo>
                  <a:pt x="1067752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72000" y="9001125"/>
            <a:ext cx="6972300" cy="1285875"/>
          </a:xfrm>
          <a:custGeom>
            <a:avLst/>
            <a:gdLst/>
            <a:ahLst/>
            <a:cxnLst/>
            <a:rect l="l" t="t" r="r" b="b"/>
            <a:pathLst>
              <a:path w="6972300" h="1285875">
                <a:moveTo>
                  <a:pt x="0" y="0"/>
                </a:moveTo>
                <a:lnTo>
                  <a:pt x="6972300" y="0"/>
                </a:lnTo>
                <a:lnTo>
                  <a:pt x="6972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400925" y="9210675"/>
            <a:ext cx="3057525" cy="1076325"/>
          </a:xfrm>
          <a:custGeom>
            <a:avLst/>
            <a:gdLst/>
            <a:ahLst/>
            <a:cxnLst/>
            <a:rect l="l" t="t" r="r" b="b"/>
            <a:pathLst>
              <a:path w="3057525" h="1076325">
                <a:moveTo>
                  <a:pt x="0" y="0"/>
                </a:moveTo>
                <a:lnTo>
                  <a:pt x="3057525" y="0"/>
                </a:lnTo>
                <a:lnTo>
                  <a:pt x="3057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106775" y="7067550"/>
            <a:ext cx="2181225" cy="3009900"/>
          </a:xfrm>
          <a:custGeom>
            <a:avLst/>
            <a:gdLst/>
            <a:ahLst/>
            <a:cxnLst/>
            <a:rect l="l" t="t" r="r" b="b"/>
            <a:pathLst>
              <a:path w="2181225" h="3009900">
                <a:moveTo>
                  <a:pt x="0" y="0"/>
                </a:moveTo>
                <a:lnTo>
                  <a:pt x="2181225" y="0"/>
                </a:lnTo>
                <a:lnTo>
                  <a:pt x="2181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44752" y="5474204"/>
            <a:ext cx="3364992" cy="5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>
                <a:solidFill>
                  <a:srgbClr val="0F2C44"/>
                </a:solidFill>
                <a:latin typeface="Roboto"/>
                <a:ea typeface="Roboto"/>
                <a:cs typeface="Roboto"/>
                <a:sym typeface="Roboto"/>
              </a:rPr>
              <a:t>Internship Project 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4752" y="6018964"/>
            <a:ext cx="5596128" cy="50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 b="1">
                <a:solidFill>
                  <a:srgbClr val="0F2C44"/>
                </a:solidFill>
                <a:latin typeface="Roboto Bold"/>
                <a:ea typeface="Roboto Bold"/>
                <a:cs typeface="Roboto Bold"/>
                <a:sym typeface="Roboto Bold"/>
              </a:rPr>
              <a:t>IMPOST INDIA PRIVATE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857625"/>
          </a:xfrm>
          <a:custGeom>
            <a:avLst/>
            <a:gdLst/>
            <a:ahLst/>
            <a:cxnLst/>
            <a:rect l="l" t="t" r="r" b="b"/>
            <a:pathLst>
              <a:path w="657225" h="3857625">
                <a:moveTo>
                  <a:pt x="0" y="0"/>
                </a:moveTo>
                <a:lnTo>
                  <a:pt x="657225" y="0"/>
                </a:lnTo>
                <a:lnTo>
                  <a:pt x="6572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05850" y="0"/>
            <a:ext cx="9582150" cy="10287000"/>
          </a:xfrm>
          <a:custGeom>
            <a:avLst/>
            <a:gdLst/>
            <a:ahLst/>
            <a:cxnLst/>
            <a:rect l="l" t="t" r="r" b="b"/>
            <a:pathLst>
              <a:path w="9582150" h="10287000">
                <a:moveTo>
                  <a:pt x="0" y="0"/>
                </a:moveTo>
                <a:lnTo>
                  <a:pt x="9582150" y="0"/>
                </a:lnTo>
                <a:lnTo>
                  <a:pt x="9582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91700" y="428625"/>
            <a:ext cx="7629525" cy="8572500"/>
          </a:xfrm>
          <a:custGeom>
            <a:avLst/>
            <a:gdLst/>
            <a:ahLst/>
            <a:cxnLst/>
            <a:rect l="l" t="t" r="r" b="b"/>
            <a:pathLst>
              <a:path w="7629525" h="8572500">
                <a:moveTo>
                  <a:pt x="0" y="0"/>
                </a:moveTo>
                <a:lnTo>
                  <a:pt x="7629525" y="0"/>
                </a:lnTo>
                <a:lnTo>
                  <a:pt x="7629525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1600" y="1200461"/>
            <a:ext cx="7260336" cy="1207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8930" b="1">
                <a:solidFill>
                  <a:srgbClr val="1A2C4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ORGANIZATION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2395901"/>
            <a:ext cx="4718304" cy="131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81"/>
              </a:lnSpc>
            </a:pPr>
            <a:r>
              <a:rPr lang="en-US" sz="9781" b="1" spc="489">
                <a:solidFill>
                  <a:srgbClr val="E15D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PROFILE</a:t>
            </a:r>
          </a:p>
        </p:txBody>
      </p:sp>
      <p:sp>
        <p:nvSpPr>
          <p:cNvPr id="9" name="Freeform 9"/>
          <p:cNvSpPr/>
          <p:nvPr/>
        </p:nvSpPr>
        <p:spPr>
          <a:xfrm>
            <a:off x="1304925" y="3857625"/>
            <a:ext cx="1962150" cy="219075"/>
          </a:xfrm>
          <a:custGeom>
            <a:avLst/>
            <a:gdLst/>
            <a:ahLst/>
            <a:cxnLst/>
            <a:rect l="l" t="t" r="r" b="b"/>
            <a:pathLst>
              <a:path w="1962150" h="219075">
                <a:moveTo>
                  <a:pt x="0" y="0"/>
                </a:moveTo>
                <a:lnTo>
                  <a:pt x="1962150" y="0"/>
                </a:lnTo>
                <a:lnTo>
                  <a:pt x="1962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96126" y="5156940"/>
            <a:ext cx="6291072" cy="41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3010" b="1" spc="150" dirty="0">
                <a:solidFill>
                  <a:srgbClr val="1A2C4F"/>
                </a:solidFill>
                <a:latin typeface="Roboto Bold"/>
                <a:ea typeface="Roboto Bold"/>
                <a:cs typeface="Roboto Bold"/>
                <a:sym typeface="Roboto Bold"/>
              </a:rPr>
              <a:t>IMPOST INDIA PRIVATE LIMITED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9888" y="6663694"/>
            <a:ext cx="1847088" cy="34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b="1">
                <a:solidFill>
                  <a:srgbClr val="1A2C4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WE 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9888" y="7242467"/>
            <a:ext cx="2907792" cy="29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Tax Advisory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4757" y="7818248"/>
            <a:ext cx="3583686" cy="295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301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Corporate Legal Support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9888" y="8851863"/>
            <a:ext cx="2304288" cy="30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407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Accounting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5219700" y="6638925"/>
            <a:ext cx="228600" cy="2790825"/>
          </a:xfrm>
          <a:custGeom>
            <a:avLst/>
            <a:gdLst/>
            <a:ahLst/>
            <a:cxnLst/>
            <a:rect l="l" t="t" r="r" b="b"/>
            <a:pathLst>
              <a:path w="228600" h="2790825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907024" y="6663694"/>
            <a:ext cx="2212848" cy="34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b="1">
                <a:solidFill>
                  <a:srgbClr val="1A2C4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OUR FOOTPRINT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07024" y="7807040"/>
            <a:ext cx="239877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Khargone (M.P)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07024" y="8322602"/>
            <a:ext cx="2570226" cy="296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Indore (M.P)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604117" y="485274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108942" y="4952034"/>
            <a:ext cx="1298448" cy="22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628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Indore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219774" y="44564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11696319" y="4655838"/>
            <a:ext cx="768096" cy="22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663" dirty="0" err="1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Barwani</a:t>
            </a:r>
            <a:endParaRPr lang="en-US" sz="1663" dirty="0">
              <a:solidFill>
                <a:srgbClr val="1A2C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1534775" y="5143500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705850" y="6429375"/>
            <a:ext cx="9582150" cy="3857625"/>
          </a:xfrm>
          <a:custGeom>
            <a:avLst/>
            <a:gdLst/>
            <a:ahLst/>
            <a:cxnLst/>
            <a:rect l="l" t="t" r="r" b="b"/>
            <a:pathLst>
              <a:path w="9582150" h="3857625">
                <a:moveTo>
                  <a:pt x="0" y="0"/>
                </a:moveTo>
                <a:lnTo>
                  <a:pt x="9582150" y="0"/>
                </a:lnTo>
                <a:lnTo>
                  <a:pt x="958215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389888" y="8322602"/>
            <a:ext cx="3829812" cy="296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Tax And Audit Compliance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07023" y="7251542"/>
            <a:ext cx="224896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dirty="0" err="1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Barwani</a:t>
            </a:r>
            <a:r>
              <a:rPr lang="en-US" sz="2372" dirty="0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(M.P)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51792" y="5354334"/>
            <a:ext cx="932688" cy="22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698">
                <a:solidFill>
                  <a:srgbClr val="1A2C4F"/>
                </a:solidFill>
                <a:latin typeface="Roboto"/>
                <a:ea typeface="Roboto"/>
                <a:cs typeface="Roboto"/>
                <a:sym typeface="Roboto"/>
              </a:rPr>
              <a:t>Khargone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648075"/>
          </a:xfrm>
          <a:custGeom>
            <a:avLst/>
            <a:gdLst/>
            <a:ahLst/>
            <a:cxnLst/>
            <a:rect l="l" t="t" r="r" b="b"/>
            <a:pathLst>
              <a:path w="657225" h="3648075">
                <a:moveTo>
                  <a:pt x="0" y="0"/>
                </a:moveTo>
                <a:lnTo>
                  <a:pt x="657225" y="0"/>
                </a:lnTo>
                <a:lnTo>
                  <a:pt x="657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80160" y="689296"/>
            <a:ext cx="4462272" cy="112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b="1">
                <a:solidFill>
                  <a:srgbClr val="13284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0160" y="1666561"/>
            <a:ext cx="5596128" cy="112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b="1">
                <a:solidFill>
                  <a:srgbClr val="D1552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STATEMENT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085850" y="2781300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80160" y="3091815"/>
            <a:ext cx="618134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975" b="1">
                <a:solidFill>
                  <a:srgbClr val="132844"/>
                </a:solidFill>
                <a:latin typeface="Roboto Bold"/>
                <a:ea typeface="Roboto Bold"/>
                <a:cs typeface="Roboto Bold"/>
                <a:sym typeface="Roboto Bold"/>
              </a:rPr>
              <a:t>Operational gaps slowing marketing and human-resource management.</a:t>
            </a:r>
          </a:p>
        </p:txBody>
      </p:sp>
      <p:sp>
        <p:nvSpPr>
          <p:cNvPr id="8" name="Freeform 8"/>
          <p:cNvSpPr/>
          <p:nvPr/>
        </p:nvSpPr>
        <p:spPr>
          <a:xfrm>
            <a:off x="7829550" y="3857625"/>
            <a:ext cx="2409825" cy="857250"/>
          </a:xfrm>
          <a:custGeom>
            <a:avLst/>
            <a:gdLst/>
            <a:ahLst/>
            <a:cxnLst/>
            <a:rect l="l" t="t" r="r" b="b"/>
            <a:pathLst>
              <a:path w="2409825" h="857250">
                <a:moveTo>
                  <a:pt x="0" y="0"/>
                </a:moveTo>
                <a:lnTo>
                  <a:pt x="2409825" y="0"/>
                </a:lnTo>
                <a:lnTo>
                  <a:pt x="2409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57616" y="4009137"/>
            <a:ext cx="1389888" cy="514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297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BEFORE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85850" y="4495800"/>
            <a:ext cx="4581525" cy="4505325"/>
          </a:xfrm>
          <a:custGeom>
            <a:avLst/>
            <a:gdLst/>
            <a:ahLst/>
            <a:cxnLst/>
            <a:rect l="l" t="t" r="r" b="b"/>
            <a:pathLst>
              <a:path w="4581525" h="4505325">
                <a:moveTo>
                  <a:pt x="0" y="0"/>
                </a:moveTo>
                <a:lnTo>
                  <a:pt x="4581525" y="0"/>
                </a:lnTo>
                <a:lnTo>
                  <a:pt x="45815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85850" y="4495800"/>
            <a:ext cx="4362450" cy="647700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94560" y="4670936"/>
            <a:ext cx="2304288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MARKETING UNIT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45920" y="5389173"/>
            <a:ext cx="3090672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32844"/>
                </a:solidFill>
                <a:latin typeface="Roboto"/>
                <a:ea typeface="Roboto"/>
                <a:cs typeface="Roboto"/>
                <a:sym typeface="Roboto"/>
              </a:rPr>
              <a:t>Fragmented lead tracking across platforms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24000" y="6210300"/>
            <a:ext cx="3705225" cy="438150"/>
          </a:xfrm>
          <a:custGeom>
            <a:avLst/>
            <a:gdLst/>
            <a:ahLst/>
            <a:cxnLst/>
            <a:rect l="l" t="t" r="r" b="b"/>
            <a:pathLst>
              <a:path w="3705225" h="438150">
                <a:moveTo>
                  <a:pt x="0" y="0"/>
                </a:moveTo>
                <a:lnTo>
                  <a:pt x="3705225" y="0"/>
                </a:lnTo>
                <a:lnTo>
                  <a:pt x="3705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45920" y="6693197"/>
            <a:ext cx="3310128" cy="709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>
                <a:solidFill>
                  <a:srgbClr val="132844"/>
                </a:solidFill>
                <a:latin typeface="Roboto"/>
                <a:ea typeface="Roboto"/>
                <a:cs typeface="Roboto"/>
                <a:sym typeface="Roboto"/>
              </a:rPr>
              <a:t>Missed follow-ups and inconsistent communication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4000" y="7496175"/>
            <a:ext cx="3705225" cy="219075"/>
          </a:xfrm>
          <a:custGeom>
            <a:avLst/>
            <a:gdLst/>
            <a:ahLst/>
            <a:cxnLst/>
            <a:rect l="l" t="t" r="r" b="b"/>
            <a:pathLst>
              <a:path w="3705225" h="219075">
                <a:moveTo>
                  <a:pt x="0" y="0"/>
                </a:moveTo>
                <a:lnTo>
                  <a:pt x="3705225" y="0"/>
                </a:lnTo>
                <a:lnTo>
                  <a:pt x="3705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45920" y="7858053"/>
            <a:ext cx="2633472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32844"/>
                </a:solidFill>
                <a:latin typeface="Roboto"/>
                <a:ea typeface="Roboto"/>
                <a:cs typeface="Roboto"/>
                <a:sym typeface="Roboto"/>
              </a:rPr>
              <a:t>No centralized sales dashboard or visibility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6305550" y="4714875"/>
            <a:ext cx="5019675" cy="4286250"/>
          </a:xfrm>
          <a:custGeom>
            <a:avLst/>
            <a:gdLst/>
            <a:ahLst/>
            <a:cxnLst/>
            <a:rect l="l" t="t" r="r" b="b"/>
            <a:pathLst>
              <a:path w="5019675" h="4286250">
                <a:moveTo>
                  <a:pt x="0" y="0"/>
                </a:moveTo>
                <a:lnTo>
                  <a:pt x="5019675" y="0"/>
                </a:lnTo>
                <a:lnTo>
                  <a:pt x="50196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657850" y="5781675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657850" y="6638925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29850" y="5781675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229850" y="6638925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972925" y="4714875"/>
            <a:ext cx="4791075" cy="4286250"/>
          </a:xfrm>
          <a:custGeom>
            <a:avLst/>
            <a:gdLst/>
            <a:ahLst/>
            <a:cxnLst/>
            <a:rect l="l" t="t" r="r" b="b"/>
            <a:pathLst>
              <a:path w="4791075" h="4286250">
                <a:moveTo>
                  <a:pt x="0" y="0"/>
                </a:moveTo>
                <a:lnTo>
                  <a:pt x="4791075" y="0"/>
                </a:lnTo>
                <a:lnTo>
                  <a:pt x="47910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401550" y="4495800"/>
            <a:ext cx="4362450" cy="647700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313664" y="4670936"/>
            <a:ext cx="2395728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HR MANAGEMENT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83312" y="5335174"/>
            <a:ext cx="3328416" cy="83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>
                <a:solidFill>
                  <a:srgbClr val="132844"/>
                </a:solidFill>
                <a:latin typeface="Roboto"/>
                <a:ea typeface="Roboto"/>
                <a:cs typeface="Roboto"/>
                <a:sym typeface="Roboto"/>
              </a:rPr>
              <a:t>Manual attendance records across branches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620625" y="6210300"/>
            <a:ext cx="3714750" cy="438150"/>
          </a:xfrm>
          <a:custGeom>
            <a:avLst/>
            <a:gdLst/>
            <a:ahLst/>
            <a:cxnLst/>
            <a:rect l="l" t="t" r="r" b="b"/>
            <a:pathLst>
              <a:path w="3714750" h="438150">
                <a:moveTo>
                  <a:pt x="0" y="0"/>
                </a:moveTo>
                <a:lnTo>
                  <a:pt x="3714750" y="0"/>
                </a:lnTo>
                <a:lnTo>
                  <a:pt x="3714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783312" y="6684123"/>
            <a:ext cx="2962656" cy="71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132844"/>
                </a:solidFill>
                <a:latin typeface="Roboto"/>
                <a:ea typeface="Roboto"/>
                <a:cs typeface="Roboto"/>
                <a:sym typeface="Roboto"/>
              </a:rPr>
              <a:t>Leave tracking in spreadsheets and emails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620625" y="7496175"/>
            <a:ext cx="3714750" cy="219075"/>
          </a:xfrm>
          <a:custGeom>
            <a:avLst/>
            <a:gdLst/>
            <a:ahLst/>
            <a:cxnLst/>
            <a:rect l="l" t="t" r="r" b="b"/>
            <a:pathLst>
              <a:path w="3714750" h="219075">
                <a:moveTo>
                  <a:pt x="0" y="0"/>
                </a:moveTo>
                <a:lnTo>
                  <a:pt x="3714750" y="0"/>
                </a:lnTo>
                <a:lnTo>
                  <a:pt x="3714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783312" y="7858053"/>
            <a:ext cx="2706624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32844"/>
                </a:solidFill>
                <a:latin typeface="Roboto"/>
                <a:ea typeface="Roboto"/>
                <a:cs typeface="Roboto"/>
                <a:sym typeface="Roboto"/>
              </a:rPr>
              <a:t>Grievance handling with no unified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05856" y="9147048"/>
            <a:ext cx="641908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585" b="1">
                <a:solidFill>
                  <a:srgbClr val="132844"/>
                </a:solidFill>
                <a:latin typeface="Roboto Bold"/>
                <a:ea typeface="Roboto Bold"/>
                <a:cs typeface="Roboto Bold"/>
                <a:sym typeface="Roboto Bold"/>
              </a:rPr>
              <a:t>Fragmented records. Disconnected workflows. </a:t>
            </a:r>
            <a:r>
              <a:rPr lang="en-US" sz="2585" b="1">
                <a:solidFill>
                  <a:srgbClr val="D15525"/>
                </a:solidFill>
                <a:latin typeface="Roboto Bold"/>
                <a:ea typeface="Roboto Bold"/>
                <a:cs typeface="Roboto Bold"/>
                <a:sym typeface="Roboto Bold"/>
              </a:rPr>
              <a:t>Limited visibility. Higher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648075"/>
          </a:xfrm>
          <a:custGeom>
            <a:avLst/>
            <a:gdLst/>
            <a:ahLst/>
            <a:cxnLst/>
            <a:rect l="l" t="t" r="r" b="b"/>
            <a:pathLst>
              <a:path w="657225" h="3648075">
                <a:moveTo>
                  <a:pt x="0" y="0"/>
                </a:moveTo>
                <a:lnTo>
                  <a:pt x="657225" y="0"/>
                </a:lnTo>
                <a:lnTo>
                  <a:pt x="657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96625" y="0"/>
            <a:ext cx="7191375" cy="5791200"/>
          </a:xfrm>
          <a:custGeom>
            <a:avLst/>
            <a:gdLst/>
            <a:ahLst/>
            <a:cxnLst/>
            <a:rect l="l" t="t" r="r" b="b"/>
            <a:pathLst>
              <a:path w="7191375" h="5791200">
                <a:moveTo>
                  <a:pt x="0" y="0"/>
                </a:moveTo>
                <a:lnTo>
                  <a:pt x="7191375" y="0"/>
                </a:lnTo>
                <a:lnTo>
                  <a:pt x="719137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53850" y="1066800"/>
            <a:ext cx="5886450" cy="4724400"/>
          </a:xfrm>
          <a:custGeom>
            <a:avLst/>
            <a:gdLst/>
            <a:ahLst/>
            <a:cxnLst/>
            <a:rect l="l" t="t" r="r" b="b"/>
            <a:pathLst>
              <a:path w="5886450" h="4724400">
                <a:moveTo>
                  <a:pt x="0" y="0"/>
                </a:moveTo>
                <a:lnTo>
                  <a:pt x="5886450" y="0"/>
                </a:lnTo>
                <a:lnTo>
                  <a:pt x="588645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3850" y="5572125"/>
            <a:ext cx="6534150" cy="4505325"/>
          </a:xfrm>
          <a:custGeom>
            <a:avLst/>
            <a:gdLst/>
            <a:ahLst/>
            <a:cxnLst/>
            <a:rect l="l" t="t" r="r" b="b"/>
            <a:pathLst>
              <a:path w="6534150" h="4505325">
                <a:moveTo>
                  <a:pt x="0" y="0"/>
                </a:moveTo>
                <a:lnTo>
                  <a:pt x="6534150" y="0"/>
                </a:lnTo>
                <a:lnTo>
                  <a:pt x="653415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61872" y="582547"/>
            <a:ext cx="4315968" cy="118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5"/>
              </a:lnSpc>
            </a:pPr>
            <a:r>
              <a:rPr lang="en-US" sz="8895" b="1">
                <a:solidFill>
                  <a:srgbClr val="112D4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1872" y="1759889"/>
            <a:ext cx="5852160" cy="119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6"/>
              </a:lnSpc>
            </a:pPr>
            <a:r>
              <a:rPr lang="en-US" sz="8966" b="1">
                <a:solidFill>
                  <a:srgbClr val="D852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OBJECTIVES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85850" y="3000375"/>
            <a:ext cx="1962150" cy="219075"/>
          </a:xfrm>
          <a:custGeom>
            <a:avLst/>
            <a:gdLst/>
            <a:ahLst/>
            <a:cxnLst/>
            <a:rect l="l" t="t" r="r" b="b"/>
            <a:pathLst>
              <a:path w="1962150" h="219075">
                <a:moveTo>
                  <a:pt x="0" y="0"/>
                </a:moveTo>
                <a:lnTo>
                  <a:pt x="1962150" y="0"/>
                </a:lnTo>
                <a:lnTo>
                  <a:pt x="1962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61872" y="3487291"/>
            <a:ext cx="7424928" cy="42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549">
                <a:solidFill>
                  <a:srgbClr val="112D4E"/>
                </a:solidFill>
                <a:latin typeface="Roboto"/>
                <a:ea typeface="Roboto"/>
                <a:cs typeface="Roboto"/>
                <a:sym typeface="Roboto"/>
              </a:rPr>
              <a:t>Connecting business challenges to portal solutions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9072" y="4424084"/>
            <a:ext cx="2542032" cy="30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876" b="1">
                <a:solidFill>
                  <a:srgbClr val="112D4E"/>
                </a:solidFill>
                <a:latin typeface="Roboto Bold"/>
                <a:ea typeface="Roboto Bold"/>
                <a:cs typeface="Roboto Bold"/>
                <a:sym typeface="Roboto Bold"/>
              </a:rPr>
              <a:t>BUSINESS CHALLENGE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85850" y="4924425"/>
            <a:ext cx="3924300" cy="2362200"/>
          </a:xfrm>
          <a:custGeom>
            <a:avLst/>
            <a:gdLst/>
            <a:ahLst/>
            <a:cxnLst/>
            <a:rect l="l" t="t" r="r" b="b"/>
            <a:pathLst>
              <a:path w="3924300" h="2362200">
                <a:moveTo>
                  <a:pt x="0" y="0"/>
                </a:moveTo>
                <a:lnTo>
                  <a:pt x="3924300" y="0"/>
                </a:lnTo>
                <a:lnTo>
                  <a:pt x="3924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08176" y="5226019"/>
            <a:ext cx="932688" cy="547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3365" b="1">
                <a:solidFill>
                  <a:srgbClr val="112D4E"/>
                </a:solidFill>
                <a:latin typeface="Roboto Bold"/>
                <a:ea typeface="Roboto Bold"/>
                <a:cs typeface="Roboto Bold"/>
                <a:sym typeface="Roboto Bold"/>
              </a:rPr>
              <a:t>CRM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8176" y="5825799"/>
            <a:ext cx="2926080" cy="110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12D4E"/>
                </a:solidFill>
                <a:latin typeface="Roboto"/>
                <a:ea typeface="Roboto"/>
                <a:cs typeface="Roboto"/>
                <a:sym typeface="Roboto"/>
              </a:rPr>
              <a:t>Sales team needs a unified view of leads and calling activities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68896" y="4424084"/>
            <a:ext cx="2139696" cy="30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876" b="1">
                <a:solidFill>
                  <a:srgbClr val="112D4E"/>
                </a:solidFill>
                <a:latin typeface="Roboto Bold"/>
                <a:ea typeface="Roboto Bold"/>
                <a:cs typeface="Roboto Bold"/>
                <a:sym typeface="Roboto Bold"/>
              </a:rPr>
              <a:t>PORTAL SOLUTION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6096000" y="4924425"/>
            <a:ext cx="4362450" cy="2362200"/>
          </a:xfrm>
          <a:custGeom>
            <a:avLst/>
            <a:gdLst/>
            <a:ahLst/>
            <a:cxnLst/>
            <a:rect l="l" t="t" r="r" b="b"/>
            <a:pathLst>
              <a:path w="4362450" h="2362200">
                <a:moveTo>
                  <a:pt x="0" y="0"/>
                </a:moveTo>
                <a:lnTo>
                  <a:pt x="4362450" y="0"/>
                </a:lnTo>
                <a:lnTo>
                  <a:pt x="4362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565392" y="5586603"/>
            <a:ext cx="362102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a unified Lead Pipeline Board and a dedicated Telecalling Workspace</a:t>
            </a:r>
          </a:p>
        </p:txBody>
      </p:sp>
      <p:sp>
        <p:nvSpPr>
          <p:cNvPr id="19" name="Freeform 19"/>
          <p:cNvSpPr/>
          <p:nvPr/>
        </p:nvSpPr>
        <p:spPr>
          <a:xfrm>
            <a:off x="5219700" y="57816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85850" y="7496175"/>
            <a:ext cx="3924300" cy="2362200"/>
          </a:xfrm>
          <a:custGeom>
            <a:avLst/>
            <a:gdLst/>
            <a:ahLst/>
            <a:cxnLst/>
            <a:rect l="l" t="t" r="r" b="b"/>
            <a:pathLst>
              <a:path w="3924300" h="2362200">
                <a:moveTo>
                  <a:pt x="0" y="0"/>
                </a:moveTo>
                <a:lnTo>
                  <a:pt x="3924300" y="0"/>
                </a:lnTo>
                <a:lnTo>
                  <a:pt x="3924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08176" y="7740359"/>
            <a:ext cx="1188720" cy="53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2"/>
              </a:lnSpc>
            </a:pPr>
            <a:r>
              <a:rPr lang="en-US" sz="3294" b="1">
                <a:solidFill>
                  <a:srgbClr val="112D4E"/>
                </a:solidFill>
                <a:latin typeface="Roboto Bold"/>
                <a:ea typeface="Roboto Bold"/>
                <a:cs typeface="Roboto Bold"/>
                <a:sym typeface="Roboto Bold"/>
              </a:rPr>
              <a:t>HRMS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176" y="8389825"/>
            <a:ext cx="3273552" cy="100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876">
                <a:solidFill>
                  <a:srgbClr val="112D4E"/>
                </a:solidFill>
                <a:latin typeface="Roboto"/>
                <a:ea typeface="Roboto"/>
                <a:cs typeface="Roboto"/>
                <a:sym typeface="Roboto"/>
              </a:rPr>
              <a:t>Back office needs centralized attendance and simpler leave and reimbursement workflows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96000" y="7496175"/>
            <a:ext cx="4362450" cy="2362200"/>
          </a:xfrm>
          <a:custGeom>
            <a:avLst/>
            <a:gdLst/>
            <a:ahLst/>
            <a:cxnLst/>
            <a:rect l="l" t="t" r="r" b="b"/>
            <a:pathLst>
              <a:path w="4362450" h="2362200">
                <a:moveTo>
                  <a:pt x="0" y="0"/>
                </a:moveTo>
                <a:lnTo>
                  <a:pt x="4362450" y="0"/>
                </a:lnTo>
                <a:lnTo>
                  <a:pt x="4362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565392" y="7895272"/>
            <a:ext cx="3529584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Centralize branch-wise attendance and streamline leave and reimbursement requests</a:t>
            </a:r>
          </a:p>
        </p:txBody>
      </p:sp>
      <p:sp>
        <p:nvSpPr>
          <p:cNvPr id="25" name="Freeform 25"/>
          <p:cNvSpPr/>
          <p:nvPr/>
        </p:nvSpPr>
        <p:spPr>
          <a:xfrm>
            <a:off x="5219700" y="814387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857625"/>
          </a:xfrm>
          <a:custGeom>
            <a:avLst/>
            <a:gdLst/>
            <a:ahLst/>
            <a:cxnLst/>
            <a:rect l="l" t="t" r="r" b="b"/>
            <a:pathLst>
              <a:path w="657225" h="3857625">
                <a:moveTo>
                  <a:pt x="0" y="0"/>
                </a:moveTo>
                <a:lnTo>
                  <a:pt x="657225" y="0"/>
                </a:lnTo>
                <a:lnTo>
                  <a:pt x="6572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76925" y="857250"/>
            <a:ext cx="11763375" cy="9429750"/>
          </a:xfrm>
          <a:custGeom>
            <a:avLst/>
            <a:gdLst/>
            <a:ahLst/>
            <a:cxnLst/>
            <a:rect l="l" t="t" r="r" b="b"/>
            <a:pathLst>
              <a:path w="11763375" h="9429750">
                <a:moveTo>
                  <a:pt x="0" y="0"/>
                </a:moveTo>
                <a:lnTo>
                  <a:pt x="11763375" y="0"/>
                </a:lnTo>
                <a:lnTo>
                  <a:pt x="1176337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63700" y="3638550"/>
            <a:ext cx="3714750" cy="4295775"/>
          </a:xfrm>
          <a:custGeom>
            <a:avLst/>
            <a:gdLst/>
            <a:ahLst/>
            <a:cxnLst/>
            <a:rect l="l" t="t" r="r" b="b"/>
            <a:pathLst>
              <a:path w="3714750" h="4295775">
                <a:moveTo>
                  <a:pt x="0" y="0"/>
                </a:moveTo>
                <a:lnTo>
                  <a:pt x="3714750" y="0"/>
                </a:lnTo>
                <a:lnTo>
                  <a:pt x="37147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08176" y="657203"/>
            <a:ext cx="7205472" cy="21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0"/>
              </a:lnSpc>
            </a:pPr>
            <a:r>
              <a:rPr lang="en-US" sz="8469" b="1">
                <a:solidFill>
                  <a:srgbClr val="1A36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TECHNOLOGIES AND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8176" y="2765276"/>
            <a:ext cx="5596128" cy="112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0"/>
              </a:lnSpc>
            </a:pPr>
            <a:r>
              <a:rPr lang="en-US" sz="8469" b="1">
                <a:solidFill>
                  <a:srgbClr val="E1653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TOOLS USED</a:t>
            </a:r>
          </a:p>
        </p:txBody>
      </p:sp>
      <p:sp>
        <p:nvSpPr>
          <p:cNvPr id="9" name="Freeform 9"/>
          <p:cNvSpPr/>
          <p:nvPr/>
        </p:nvSpPr>
        <p:spPr>
          <a:xfrm>
            <a:off x="1304925" y="4067175"/>
            <a:ext cx="1962150" cy="219075"/>
          </a:xfrm>
          <a:custGeom>
            <a:avLst/>
            <a:gdLst/>
            <a:ahLst/>
            <a:cxnLst/>
            <a:rect l="l" t="t" r="r" b="b"/>
            <a:pathLst>
              <a:path w="1962150" h="219075">
                <a:moveTo>
                  <a:pt x="0" y="0"/>
                </a:moveTo>
                <a:lnTo>
                  <a:pt x="1962150" y="0"/>
                </a:lnTo>
                <a:lnTo>
                  <a:pt x="1962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08176" y="4600766"/>
            <a:ext cx="307238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>
                <a:solidFill>
                  <a:srgbClr val="E16539"/>
                </a:solidFill>
                <a:latin typeface="Roboto Bold"/>
                <a:ea typeface="Roboto Bold"/>
                <a:cs typeface="Roboto Bold"/>
                <a:sym typeface="Roboto Bold"/>
              </a:rPr>
              <a:t>FRONT-END STACK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8176" y="7445502"/>
            <a:ext cx="25237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1">
                <a:solidFill>
                  <a:srgbClr val="E16539"/>
                </a:solidFill>
                <a:latin typeface="Roboto Bold"/>
                <a:ea typeface="Roboto Bold"/>
                <a:cs typeface="Roboto Bold"/>
                <a:sym typeface="Roboto Bold"/>
              </a:rPr>
              <a:t>AI TOOLS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8176" y="9385293"/>
            <a:ext cx="3877056" cy="34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for coding and layout assistance</a:t>
            </a:r>
          </a:p>
        </p:txBody>
      </p:sp>
      <p:sp>
        <p:nvSpPr>
          <p:cNvPr id="13" name="TextBox 13"/>
          <p:cNvSpPr txBox="1"/>
          <p:nvPr/>
        </p:nvSpPr>
        <p:spPr>
          <a:xfrm rot="161999">
            <a:off x="14963339" y="3970480"/>
            <a:ext cx="1243584" cy="23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6"/>
              </a:lnSpc>
            </a:pPr>
            <a:r>
              <a:rPr lang="en-US" sz="145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ASSISTANT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801850" y="4495800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801850" y="55721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 rot="161999">
            <a:off x="15640047" y="5681544"/>
            <a:ext cx="1024128" cy="33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ChatGPT</a:t>
            </a:r>
          </a:p>
        </p:txBody>
      </p:sp>
      <p:sp>
        <p:nvSpPr>
          <p:cNvPr id="17" name="TextBox 17"/>
          <p:cNvSpPr txBox="1"/>
          <p:nvPr/>
        </p:nvSpPr>
        <p:spPr>
          <a:xfrm rot="161999">
            <a:off x="15638658" y="6092096"/>
            <a:ext cx="1097280" cy="26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coding help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801850" y="6429375"/>
            <a:ext cx="657225" cy="1076325"/>
          </a:xfrm>
          <a:custGeom>
            <a:avLst/>
            <a:gdLst/>
            <a:ahLst/>
            <a:cxnLst/>
            <a:rect l="l" t="t" r="r" b="b"/>
            <a:pathLst>
              <a:path w="657225" h="10763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 rot="161999">
            <a:off x="15639385" y="6683598"/>
            <a:ext cx="822960" cy="32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0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Gemini</a:t>
            </a:r>
          </a:p>
        </p:txBody>
      </p:sp>
      <p:sp>
        <p:nvSpPr>
          <p:cNvPr id="20" name="TextBox 20"/>
          <p:cNvSpPr txBox="1"/>
          <p:nvPr/>
        </p:nvSpPr>
        <p:spPr>
          <a:xfrm rot="161999">
            <a:off x="15583794" y="7131083"/>
            <a:ext cx="1645920" cy="26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layout assistance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176" y="5193790"/>
            <a:ext cx="2578608" cy="168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549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HTML5</a:t>
            </a:r>
          </a:p>
          <a:p>
            <a:pPr algn="l">
              <a:lnSpc>
                <a:spcPts val="3314"/>
              </a:lnSpc>
            </a:pPr>
            <a:r>
              <a:rPr lang="en-US" sz="2549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CSS3</a:t>
            </a:r>
          </a:p>
          <a:p>
            <a:pPr algn="l">
              <a:lnSpc>
                <a:spcPts val="3314"/>
              </a:lnSpc>
            </a:pPr>
            <a:r>
              <a:rPr lang="en-US" sz="2549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Tailwind CSS</a:t>
            </a:r>
          </a:p>
          <a:p>
            <a:pPr algn="l">
              <a:lnSpc>
                <a:spcPts val="3314"/>
              </a:lnSpc>
            </a:pPr>
            <a:r>
              <a:rPr lang="en-US" sz="2549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Vanilla JavaScript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176" y="8002401"/>
            <a:ext cx="1335024" cy="129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</a:p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ChatGPT</a:t>
            </a:r>
          </a:p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A3657"/>
                </a:solidFill>
                <a:latin typeface="Roboto"/>
                <a:ea typeface="Roboto"/>
                <a:cs typeface="Roboto"/>
                <a:sym typeface="Roboto"/>
              </a:rPr>
              <a:t>Gemini</a:t>
            </a:r>
          </a:p>
        </p:txBody>
      </p:sp>
      <p:sp>
        <p:nvSpPr>
          <p:cNvPr id="23" name="TextBox 23"/>
          <p:cNvSpPr txBox="1"/>
          <p:nvPr/>
        </p:nvSpPr>
        <p:spPr>
          <a:xfrm rot="161999">
            <a:off x="15639395" y="4653289"/>
            <a:ext cx="822960" cy="34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</a:p>
        </p:txBody>
      </p:sp>
      <p:sp>
        <p:nvSpPr>
          <p:cNvPr id="24" name="TextBox 24"/>
          <p:cNvSpPr txBox="1"/>
          <p:nvPr/>
        </p:nvSpPr>
        <p:spPr>
          <a:xfrm rot="161999">
            <a:off x="15638658" y="5104544"/>
            <a:ext cx="1682496" cy="26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code suggestions</a:t>
            </a:r>
          </a:p>
        </p:txBody>
      </p:sp>
      <p:sp>
        <p:nvSpPr>
          <p:cNvPr id="25" name="TextBox 25"/>
          <p:cNvSpPr txBox="1"/>
          <p:nvPr/>
        </p:nvSpPr>
        <p:spPr>
          <a:xfrm rot="161999">
            <a:off x="14999347" y="4711690"/>
            <a:ext cx="365760" cy="486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876300" cy="3857625"/>
          </a:xfrm>
          <a:custGeom>
            <a:avLst/>
            <a:gdLst/>
            <a:ahLst/>
            <a:cxnLst/>
            <a:rect l="l" t="t" r="r" b="b"/>
            <a:pathLst>
              <a:path w="876300" h="3857625">
                <a:moveTo>
                  <a:pt x="0" y="0"/>
                </a:moveTo>
                <a:lnTo>
                  <a:pt x="876300" y="0"/>
                </a:lnTo>
                <a:lnTo>
                  <a:pt x="8763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876300" cy="3219450"/>
          </a:xfrm>
          <a:custGeom>
            <a:avLst/>
            <a:gdLst/>
            <a:ahLst/>
            <a:cxnLst/>
            <a:rect l="l" t="t" r="r" b="b"/>
            <a:pathLst>
              <a:path w="876300" h="3219450">
                <a:moveTo>
                  <a:pt x="0" y="0"/>
                </a:moveTo>
                <a:lnTo>
                  <a:pt x="876300" y="0"/>
                </a:lnTo>
                <a:lnTo>
                  <a:pt x="876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6736" y="427945"/>
            <a:ext cx="3127248" cy="95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b="1">
                <a:solidFill>
                  <a:srgbClr val="1E324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6736" y="1365846"/>
            <a:ext cx="6144768" cy="10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7548" b="1">
                <a:solidFill>
                  <a:srgbClr val="E1562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ARCHITECTURE</a:t>
            </a:r>
          </a:p>
        </p:txBody>
      </p:sp>
      <p:sp>
        <p:nvSpPr>
          <p:cNvPr id="7" name="Freeform 7"/>
          <p:cNvSpPr/>
          <p:nvPr/>
        </p:nvSpPr>
        <p:spPr>
          <a:xfrm>
            <a:off x="1304925" y="2352675"/>
            <a:ext cx="1743075" cy="219075"/>
          </a:xfrm>
          <a:custGeom>
            <a:avLst/>
            <a:gdLst/>
            <a:ahLst/>
            <a:cxnLst/>
            <a:rect l="l" t="t" r="r" b="b"/>
            <a:pathLst>
              <a:path w="1743075" h="219075">
                <a:moveTo>
                  <a:pt x="0" y="0"/>
                </a:moveTo>
                <a:lnTo>
                  <a:pt x="1743075" y="0"/>
                </a:lnTo>
                <a:lnTo>
                  <a:pt x="1743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352925" y="2571750"/>
            <a:ext cx="10677525" cy="2362200"/>
          </a:xfrm>
          <a:custGeom>
            <a:avLst/>
            <a:gdLst/>
            <a:ahLst/>
            <a:cxnLst/>
            <a:rect l="l" t="t" r="r" b="b"/>
            <a:pathLst>
              <a:path w="10677525" h="2362200">
                <a:moveTo>
                  <a:pt x="0" y="0"/>
                </a:moveTo>
                <a:lnTo>
                  <a:pt x="10677525" y="0"/>
                </a:lnTo>
                <a:lnTo>
                  <a:pt x="1067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352925" y="2571750"/>
            <a:ext cx="10677525" cy="857250"/>
          </a:xfrm>
          <a:custGeom>
            <a:avLst/>
            <a:gdLst/>
            <a:ahLst/>
            <a:cxnLst/>
            <a:rect l="l" t="t" r="r" b="b"/>
            <a:pathLst>
              <a:path w="10677525" h="857250">
                <a:moveTo>
                  <a:pt x="0" y="0"/>
                </a:moveTo>
                <a:lnTo>
                  <a:pt x="10677525" y="0"/>
                </a:lnTo>
                <a:lnTo>
                  <a:pt x="10677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955280" y="2800856"/>
            <a:ext cx="3511296" cy="35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5"/>
              </a:lnSpc>
            </a:pPr>
            <a:r>
              <a:rPr lang="en-US" sz="2585" b="1">
                <a:solidFill>
                  <a:srgbClr val="F8F6F6"/>
                </a:solidFill>
                <a:latin typeface="Roboto Bold"/>
                <a:ea typeface="Roboto Bold"/>
                <a:cs typeface="Roboto Bold"/>
                <a:sym typeface="Roboto Bold"/>
              </a:rPr>
              <a:t>PRESENTATION LAYER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81344" y="3618153"/>
            <a:ext cx="2103120" cy="36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2656" b="1">
                <a:solidFill>
                  <a:srgbClr val="1E3248"/>
                </a:solidFill>
                <a:latin typeface="Roboto Bold"/>
                <a:ea typeface="Roboto Bold"/>
                <a:cs typeface="Roboto Bold"/>
                <a:sym typeface="Roboto Bold"/>
              </a:rPr>
              <a:t>CRM PORTAL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32704" y="4126095"/>
            <a:ext cx="3163824" cy="30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2230">
                <a:solidFill>
                  <a:srgbClr val="1E3248"/>
                </a:solidFill>
                <a:latin typeface="Roboto"/>
                <a:ea typeface="Roboto"/>
                <a:cs typeface="Roboto"/>
                <a:sym typeface="Roboto"/>
              </a:rPr>
              <a:t>client-facing web module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7392" y="3623366"/>
            <a:ext cx="2304288" cy="35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620" b="1">
                <a:solidFill>
                  <a:srgbClr val="1E3248"/>
                </a:solidFill>
                <a:latin typeface="Roboto Bold"/>
                <a:ea typeface="Roboto Bold"/>
                <a:cs typeface="Roboto Bold"/>
                <a:sym typeface="Roboto Bold"/>
              </a:rPr>
              <a:t>HRMS PORTAL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16768" y="4126095"/>
            <a:ext cx="3163824" cy="30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2230">
                <a:solidFill>
                  <a:srgbClr val="1E3248"/>
                </a:solidFill>
                <a:latin typeface="Roboto"/>
                <a:ea typeface="Roboto"/>
                <a:cs typeface="Roboto"/>
                <a:sym typeface="Roboto"/>
              </a:rPr>
              <a:t>client-facing web module</a:t>
            </a:r>
          </a:p>
        </p:txBody>
      </p:sp>
      <p:sp>
        <p:nvSpPr>
          <p:cNvPr id="15" name="Freeform 15"/>
          <p:cNvSpPr/>
          <p:nvPr/>
        </p:nvSpPr>
        <p:spPr>
          <a:xfrm>
            <a:off x="9572625" y="3209925"/>
            <a:ext cx="447675" cy="2362200"/>
          </a:xfrm>
          <a:custGeom>
            <a:avLst/>
            <a:gdLst/>
            <a:ahLst/>
            <a:cxnLst/>
            <a:rect l="l" t="t" r="r" b="b"/>
            <a:pathLst>
              <a:path w="447675" h="2362200">
                <a:moveTo>
                  <a:pt x="0" y="0"/>
                </a:moveTo>
                <a:lnTo>
                  <a:pt x="447675" y="0"/>
                </a:lnTo>
                <a:lnTo>
                  <a:pt x="447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352925" y="5353050"/>
            <a:ext cx="10677525" cy="1933575"/>
          </a:xfrm>
          <a:custGeom>
            <a:avLst/>
            <a:gdLst/>
            <a:ahLst/>
            <a:cxnLst/>
            <a:rect l="l" t="t" r="r" b="b"/>
            <a:pathLst>
              <a:path w="10677525" h="1933575">
                <a:moveTo>
                  <a:pt x="0" y="0"/>
                </a:moveTo>
                <a:lnTo>
                  <a:pt x="10677525" y="0"/>
                </a:lnTo>
                <a:lnTo>
                  <a:pt x="1067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352925" y="5353050"/>
            <a:ext cx="10677525" cy="866775"/>
          </a:xfrm>
          <a:custGeom>
            <a:avLst/>
            <a:gdLst/>
            <a:ahLst/>
            <a:cxnLst/>
            <a:rect l="l" t="t" r="r" b="b"/>
            <a:pathLst>
              <a:path w="10677525" h="866775">
                <a:moveTo>
                  <a:pt x="0" y="0"/>
                </a:moveTo>
                <a:lnTo>
                  <a:pt x="10677525" y="0"/>
                </a:lnTo>
                <a:lnTo>
                  <a:pt x="1067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101584" y="5742488"/>
            <a:ext cx="3255264" cy="35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620" b="1">
                <a:solidFill>
                  <a:srgbClr val="F8F6F6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 LAYER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63056" y="6558139"/>
            <a:ext cx="7022592" cy="30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sz="2266">
                <a:solidFill>
                  <a:srgbClr val="1E3248"/>
                </a:solidFill>
                <a:latin typeface="Roboto"/>
                <a:ea typeface="Roboto"/>
                <a:cs typeface="Roboto"/>
                <a:sym typeface="Roboto"/>
              </a:rPr>
              <a:t>business logic for workflows, pipelines, and follow-ups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72625" y="7067550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352925" y="7924800"/>
            <a:ext cx="10677525" cy="1724025"/>
          </a:xfrm>
          <a:custGeom>
            <a:avLst/>
            <a:gdLst/>
            <a:ahLst/>
            <a:cxnLst/>
            <a:rect l="l" t="t" r="r" b="b"/>
            <a:pathLst>
              <a:path w="10677525" h="1724025">
                <a:moveTo>
                  <a:pt x="0" y="0"/>
                </a:moveTo>
                <a:lnTo>
                  <a:pt x="10677525" y="0"/>
                </a:lnTo>
                <a:lnTo>
                  <a:pt x="10677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352925" y="7924800"/>
            <a:ext cx="10677525" cy="866775"/>
          </a:xfrm>
          <a:custGeom>
            <a:avLst/>
            <a:gdLst/>
            <a:ahLst/>
            <a:cxnLst/>
            <a:rect l="l" t="t" r="r" b="b"/>
            <a:pathLst>
              <a:path w="10677525" h="866775">
                <a:moveTo>
                  <a:pt x="0" y="0"/>
                </a:moveTo>
                <a:lnTo>
                  <a:pt x="10677525" y="0"/>
                </a:lnTo>
                <a:lnTo>
                  <a:pt x="1067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741664" y="8165596"/>
            <a:ext cx="1920240" cy="34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549" b="1">
                <a:solidFill>
                  <a:srgbClr val="F8F6F6"/>
                </a:solidFill>
                <a:latin typeface="Roboto Bold"/>
                <a:ea typeface="Roboto Bold"/>
                <a:cs typeface="Roboto Bold"/>
                <a:sym typeface="Roboto Bold"/>
              </a:rPr>
              <a:t>DATA LAYER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17920" y="8924461"/>
            <a:ext cx="6803136" cy="3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2301">
                <a:solidFill>
                  <a:srgbClr val="1E3248"/>
                </a:solidFill>
                <a:latin typeface="Roboto"/>
                <a:ea typeface="Roboto"/>
                <a:cs typeface="Roboto"/>
                <a:sym typeface="Roboto"/>
              </a:rPr>
              <a:t>databases for leads, call logs, and employee records</a:t>
            </a:r>
          </a:p>
        </p:txBody>
      </p:sp>
      <p:sp>
        <p:nvSpPr>
          <p:cNvPr id="25" name="Freeform 25"/>
          <p:cNvSpPr/>
          <p:nvPr/>
        </p:nvSpPr>
        <p:spPr>
          <a:xfrm>
            <a:off x="2828925" y="3429000"/>
            <a:ext cx="1743075" cy="5572125"/>
          </a:xfrm>
          <a:custGeom>
            <a:avLst/>
            <a:gdLst/>
            <a:ahLst/>
            <a:cxnLst/>
            <a:rect l="l" t="t" r="r" b="b"/>
            <a:pathLst>
              <a:path w="1743075" h="5572125">
                <a:moveTo>
                  <a:pt x="0" y="0"/>
                </a:moveTo>
                <a:lnTo>
                  <a:pt x="1743075" y="0"/>
                </a:lnTo>
                <a:lnTo>
                  <a:pt x="17430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020925" y="3429000"/>
            <a:ext cx="1533525" cy="5572125"/>
          </a:xfrm>
          <a:custGeom>
            <a:avLst/>
            <a:gdLst/>
            <a:ahLst/>
            <a:cxnLst/>
            <a:rect l="l" t="t" r="r" b="b"/>
            <a:pathLst>
              <a:path w="1533525" h="5572125">
                <a:moveTo>
                  <a:pt x="0" y="0"/>
                </a:moveTo>
                <a:lnTo>
                  <a:pt x="1533525" y="0"/>
                </a:lnTo>
                <a:lnTo>
                  <a:pt x="153352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914775" y="342900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914775" y="600075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914775" y="857250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020925" y="342900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020925" y="600075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020925" y="857250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429000"/>
          </a:xfrm>
          <a:custGeom>
            <a:avLst/>
            <a:gdLst/>
            <a:ahLst/>
            <a:cxnLst/>
            <a:rect l="l" t="t" r="r" b="b"/>
            <a:pathLst>
              <a:path w="657225" h="3429000">
                <a:moveTo>
                  <a:pt x="0" y="0"/>
                </a:moveTo>
                <a:lnTo>
                  <a:pt x="657225" y="0"/>
                </a:lnTo>
                <a:lnTo>
                  <a:pt x="6572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80160" y="1025370"/>
            <a:ext cx="4919472" cy="183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7"/>
              </a:lnSpc>
            </a:pPr>
            <a:r>
              <a:rPr lang="en-US" sz="7087" b="1">
                <a:solidFill>
                  <a:srgbClr val="1E325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CRM PORTAL </a:t>
            </a:r>
            <a:r>
              <a:rPr lang="en-US" sz="7087" b="1">
                <a:solidFill>
                  <a:srgbClr val="D8603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FEATURES</a:t>
            </a:r>
          </a:p>
        </p:txBody>
      </p:sp>
      <p:sp>
        <p:nvSpPr>
          <p:cNvPr id="6" name="Freeform 6"/>
          <p:cNvSpPr/>
          <p:nvPr/>
        </p:nvSpPr>
        <p:spPr>
          <a:xfrm>
            <a:off x="1085850" y="3209925"/>
            <a:ext cx="1962150" cy="219075"/>
          </a:xfrm>
          <a:custGeom>
            <a:avLst/>
            <a:gdLst/>
            <a:ahLst/>
            <a:cxnLst/>
            <a:rect l="l" t="t" r="r" b="b"/>
            <a:pathLst>
              <a:path w="1962150" h="219075">
                <a:moveTo>
                  <a:pt x="0" y="0"/>
                </a:moveTo>
                <a:lnTo>
                  <a:pt x="1962150" y="0"/>
                </a:lnTo>
                <a:lnTo>
                  <a:pt x="1962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80160" y="3750736"/>
            <a:ext cx="4425696" cy="50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557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A unified workspace to manage leads, follow-ups, and conversations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0160" y="5062989"/>
            <a:ext cx="1865376" cy="29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7"/>
              </a:lnSpc>
            </a:pPr>
            <a:r>
              <a:rPr lang="en-US" sz="2088" b="1">
                <a:solidFill>
                  <a:srgbClr val="D86035"/>
                </a:solidFill>
                <a:latin typeface="Roboto Bold"/>
                <a:ea typeface="Roboto Bold"/>
                <a:cs typeface="Roboto Bold"/>
                <a:sym typeface="Roboto Bold"/>
              </a:rPr>
              <a:t>LEAD PIPELINE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0160" y="5450013"/>
            <a:ext cx="3877056" cy="70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7"/>
              </a:lnSpc>
            </a:pPr>
            <a:r>
              <a:rPr lang="en-US" sz="2159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Track prospects across key stages from new to converted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0160" y="6595977"/>
            <a:ext cx="3383280" cy="29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2053" b="1">
                <a:solidFill>
                  <a:srgbClr val="D86035"/>
                </a:solidFill>
                <a:latin typeface="Roboto Bold"/>
                <a:ea typeface="Roboto Bold"/>
                <a:cs typeface="Roboto Bold"/>
                <a:sym typeface="Roboto Bold"/>
              </a:rPr>
              <a:t>FOLLOW-UP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0160" y="6962202"/>
            <a:ext cx="3456432" cy="70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7"/>
              </a:lnSpc>
            </a:pPr>
            <a:r>
              <a:rPr lang="en-US" sz="2159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Stay on top of tasks with clear queues and priorities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0160" y="8118453"/>
            <a:ext cx="3328416" cy="29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2053" b="1">
                <a:solidFill>
                  <a:srgbClr val="D86035"/>
                </a:solidFill>
                <a:latin typeface="Roboto Bold"/>
                <a:ea typeface="Roboto Bold"/>
                <a:cs typeface="Roboto Bold"/>
                <a:sym typeface="Roboto Bold"/>
              </a:rPr>
              <a:t>TELECALLING WORKSPACE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0160" y="8522415"/>
            <a:ext cx="3767328" cy="65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982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Access client context, call scripts and dispositions in one place</a:t>
            </a:r>
          </a:p>
        </p:txBody>
      </p:sp>
      <p:sp>
        <p:nvSpPr>
          <p:cNvPr id="14" name="Freeform 14"/>
          <p:cNvSpPr/>
          <p:nvPr/>
        </p:nvSpPr>
        <p:spPr>
          <a:xfrm>
            <a:off x="5438775" y="1066800"/>
            <a:ext cx="12849225" cy="8582025"/>
          </a:xfrm>
          <a:custGeom>
            <a:avLst/>
            <a:gdLst/>
            <a:ahLst/>
            <a:cxnLst/>
            <a:rect l="l" t="t" r="r" b="b"/>
            <a:pathLst>
              <a:path w="12849225" h="8582025">
                <a:moveTo>
                  <a:pt x="0" y="0"/>
                </a:moveTo>
                <a:lnTo>
                  <a:pt x="12849225" y="0"/>
                </a:lnTo>
                <a:lnTo>
                  <a:pt x="12849225" y="8582025"/>
                </a:lnTo>
                <a:lnTo>
                  <a:pt x="0" y="8582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743700" y="1285875"/>
            <a:ext cx="1752600" cy="7286625"/>
          </a:xfrm>
          <a:custGeom>
            <a:avLst/>
            <a:gdLst/>
            <a:ahLst/>
            <a:cxnLst/>
            <a:rect l="l" t="t" r="r" b="b"/>
            <a:pathLst>
              <a:path w="1752600" h="7286625">
                <a:moveTo>
                  <a:pt x="0" y="0"/>
                </a:moveTo>
                <a:lnTo>
                  <a:pt x="1752600" y="0"/>
                </a:lnTo>
                <a:lnTo>
                  <a:pt x="175260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267700" y="1285875"/>
            <a:ext cx="9372600" cy="7286625"/>
          </a:xfrm>
          <a:custGeom>
            <a:avLst/>
            <a:gdLst/>
            <a:ahLst/>
            <a:cxnLst/>
            <a:rect l="l" t="t" r="r" b="b"/>
            <a:pathLst>
              <a:path w="9372600" h="7286625">
                <a:moveTo>
                  <a:pt x="0" y="0"/>
                </a:moveTo>
                <a:lnTo>
                  <a:pt x="9372600" y="0"/>
                </a:lnTo>
                <a:lnTo>
                  <a:pt x="937260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650224" y="1756945"/>
            <a:ext cx="1444752" cy="27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 b="1">
                <a:solidFill>
                  <a:srgbClr val="1E3256"/>
                </a:solidFill>
                <a:latin typeface="Roboto Bold"/>
                <a:ea typeface="Roboto Bold"/>
                <a:cs typeface="Roboto Bold"/>
                <a:sym typeface="Roboto Bold"/>
              </a:rPr>
              <a:t>CRM Dashboard</a:t>
            </a:r>
          </a:p>
        </p:txBody>
      </p:sp>
      <p:sp>
        <p:nvSpPr>
          <p:cNvPr id="18" name="Freeform 18"/>
          <p:cNvSpPr/>
          <p:nvPr/>
        </p:nvSpPr>
        <p:spPr>
          <a:xfrm>
            <a:off x="13277850" y="1495425"/>
            <a:ext cx="3486150" cy="647700"/>
          </a:xfrm>
          <a:custGeom>
            <a:avLst/>
            <a:gdLst/>
            <a:ahLst/>
            <a:cxnLst/>
            <a:rect l="l" t="t" r="r" b="b"/>
            <a:pathLst>
              <a:path w="3486150" h="647700">
                <a:moveTo>
                  <a:pt x="0" y="0"/>
                </a:moveTo>
                <a:lnTo>
                  <a:pt x="3486150" y="0"/>
                </a:lnTo>
                <a:lnTo>
                  <a:pt x="3486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325850" y="171450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764000" y="14954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743700" y="2143125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962775" y="235267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962775" y="278130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962775" y="3429000"/>
            <a:ext cx="447675" cy="219075"/>
          </a:xfrm>
          <a:custGeom>
            <a:avLst/>
            <a:gdLst/>
            <a:ahLst/>
            <a:cxnLst/>
            <a:rect l="l" t="t" r="r" b="b"/>
            <a:pathLst>
              <a:path w="447675" h="2190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962775" y="38576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962775" y="428625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962775" y="471487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962775" y="514350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486775" y="2781300"/>
            <a:ext cx="2181225" cy="3219450"/>
          </a:xfrm>
          <a:custGeom>
            <a:avLst/>
            <a:gdLst/>
            <a:ahLst/>
            <a:cxnLst/>
            <a:rect l="l" t="t" r="r" b="b"/>
            <a:pathLst>
              <a:path w="2181225" h="3219450">
                <a:moveTo>
                  <a:pt x="0" y="0"/>
                </a:moveTo>
                <a:lnTo>
                  <a:pt x="2181225" y="0"/>
                </a:lnTo>
                <a:lnTo>
                  <a:pt x="2181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851392" y="7332655"/>
            <a:ext cx="219456" cy="23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90304" y="7315702"/>
            <a:ext cx="877824" cy="32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lang="en-US" sz="954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Senior Manager</a:t>
            </a:r>
          </a:p>
          <a:p>
            <a:pPr algn="l">
              <a:lnSpc>
                <a:spcPts val="1336"/>
              </a:lnSpc>
            </a:pPr>
            <a:r>
              <a:rPr lang="en-US" sz="954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ABC Enterprises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80192" y="7312238"/>
            <a:ext cx="1938528" cy="90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6"/>
              </a:lnSpc>
            </a:pPr>
            <a:r>
              <a:rPr lang="en-US" sz="1025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Hello Priya,</a:t>
            </a:r>
          </a:p>
          <a:p>
            <a:pPr algn="l">
              <a:lnSpc>
                <a:spcPts val="1486"/>
              </a:lnSpc>
            </a:pPr>
            <a:r>
              <a:rPr lang="en-US" sz="1025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This is regarding our CRM solution that can help ABC Enterprises streamline sales and customer engagement.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61120" y="7905714"/>
            <a:ext cx="1170432" cy="20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+91 98765 43210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90304" y="7072467"/>
            <a:ext cx="877824" cy="20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 b="1">
                <a:solidFill>
                  <a:srgbClr val="1E3256"/>
                </a:solidFill>
                <a:latin typeface="Roboto Bold"/>
                <a:ea typeface="Roboto Bold"/>
                <a:cs typeface="Roboto Bold"/>
                <a:sym typeface="Roboto Bold"/>
              </a:rPr>
              <a:t>Priya Kapoor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80192" y="7079880"/>
            <a:ext cx="640080" cy="18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60" b="1">
                <a:solidFill>
                  <a:srgbClr val="1E3256"/>
                </a:solidFill>
                <a:latin typeface="Roboto Bold"/>
                <a:ea typeface="Roboto Bold"/>
                <a:cs typeface="Roboto Bold"/>
                <a:sym typeface="Roboto Bold"/>
              </a:rPr>
              <a:t>Call Script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03936" y="7316810"/>
            <a:ext cx="987552" cy="18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954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Select distribution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03936" y="8005952"/>
            <a:ext cx="987552" cy="17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4"/>
              </a:lnSpc>
            </a:pPr>
            <a:r>
              <a:rPr lang="en-US" sz="989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Add notes here...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112496" y="7327010"/>
            <a:ext cx="237744" cy="17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4"/>
              </a:lnSpc>
            </a:pPr>
            <a:r>
              <a:rPr lang="en-US" sz="989" b="1">
                <a:solidFill>
                  <a:srgbClr val="1E3256"/>
                </a:solidFill>
                <a:latin typeface="Roboto Bold"/>
                <a:ea typeface="Roboto Bold"/>
                <a:cs typeface="Roboto Bold"/>
                <a:sym typeface="Roboto Bold"/>
              </a:rPr>
              <a:t>V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12496" y="7687055"/>
            <a:ext cx="347472" cy="17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4"/>
              </a:lnSpc>
            </a:pPr>
            <a:r>
              <a:rPr lang="en-US" sz="989" b="1">
                <a:solidFill>
                  <a:srgbClr val="1E3256"/>
                </a:solidFill>
                <a:latin typeface="Roboto Bold"/>
                <a:ea typeface="Roboto Bold"/>
                <a:cs typeface="Roboto Bold"/>
                <a:sym typeface="Roboto Bold"/>
              </a:rPr>
              <a:t>Notes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112496" y="7003056"/>
            <a:ext cx="621792" cy="18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954" b="1">
                <a:solidFill>
                  <a:srgbClr val="1E3256"/>
                </a:solidFill>
                <a:latin typeface="Roboto Bold"/>
                <a:ea typeface="Roboto Bold"/>
                <a:cs typeface="Roboto Bold"/>
                <a:sym typeface="Roboto Bold"/>
              </a:rPr>
              <a:t>Disposition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221456" y="7342111"/>
            <a:ext cx="694944" cy="22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Start Call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989552" y="1773744"/>
            <a:ext cx="274320" cy="24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</a:pPr>
            <a:r>
              <a:rPr lang="en-US" sz="137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42848" y="1802198"/>
            <a:ext cx="1426464" cy="18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025">
                <a:solidFill>
                  <a:srgbClr val="1E3256"/>
                </a:solidFill>
                <a:latin typeface="Roboto"/>
                <a:ea typeface="Roboto"/>
                <a:cs typeface="Roboto"/>
                <a:sym typeface="Roboto"/>
              </a:rPr>
              <a:t>Search leads, contacts...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648075"/>
          </a:xfrm>
          <a:custGeom>
            <a:avLst/>
            <a:gdLst/>
            <a:ahLst/>
            <a:cxnLst/>
            <a:rect l="l" t="t" r="r" b="b"/>
            <a:pathLst>
              <a:path w="657225" h="3648075">
                <a:moveTo>
                  <a:pt x="0" y="0"/>
                </a:moveTo>
                <a:lnTo>
                  <a:pt x="657225" y="0"/>
                </a:lnTo>
                <a:lnTo>
                  <a:pt x="657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6736" y="876251"/>
            <a:ext cx="6035040" cy="1335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4"/>
              </a:lnSpc>
            </a:pPr>
            <a:r>
              <a:rPr lang="en-US" sz="7796">
                <a:solidFill>
                  <a:srgbClr val="1132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HRMS Portal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6736" y="1904951"/>
            <a:ext cx="4407408" cy="1335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4"/>
              </a:lnSpc>
            </a:pPr>
            <a:r>
              <a:rPr lang="en-US" sz="7796">
                <a:solidFill>
                  <a:srgbClr val="E15D3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Features</a:t>
            </a:r>
          </a:p>
        </p:txBody>
      </p:sp>
      <p:sp>
        <p:nvSpPr>
          <p:cNvPr id="7" name="Freeform 7"/>
          <p:cNvSpPr/>
          <p:nvPr/>
        </p:nvSpPr>
        <p:spPr>
          <a:xfrm>
            <a:off x="1304925" y="3429000"/>
            <a:ext cx="1533525" cy="219075"/>
          </a:xfrm>
          <a:custGeom>
            <a:avLst/>
            <a:gdLst/>
            <a:ahLst/>
            <a:cxnLst/>
            <a:rect l="l" t="t" r="r" b="b"/>
            <a:pathLst>
              <a:path w="1533525" h="21907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53312" y="4060036"/>
            <a:ext cx="5084064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113254"/>
                </a:solidFill>
                <a:latin typeface="Roboto Bold"/>
                <a:ea typeface="Roboto Bold"/>
                <a:cs typeface="Roboto Bold"/>
                <a:sym typeface="Roboto Bold"/>
              </a:rPr>
              <a:t>Centralized workforce administration across all branches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3312" y="5324887"/>
            <a:ext cx="4590288" cy="83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b="1">
                <a:solidFill>
                  <a:srgbClr val="113254"/>
                </a:solidFill>
                <a:latin typeface="Roboto Bold"/>
                <a:ea typeface="Roboto Bold"/>
                <a:cs typeface="Roboto Bold"/>
                <a:sym typeface="Roboto Bold"/>
              </a:rPr>
              <a:t>Real-time overview of attendance and workforce metrics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3312" y="6590188"/>
            <a:ext cx="3968496" cy="83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b="1">
                <a:solidFill>
                  <a:srgbClr val="113254"/>
                </a:solidFill>
                <a:latin typeface="Roboto Bold"/>
                <a:ea typeface="Roboto Bold"/>
                <a:cs typeface="Roboto Bold"/>
                <a:sym typeface="Roboto Bold"/>
              </a:rPr>
              <a:t>Branch-wise attendance logs with check-ins and absences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3312" y="7873639"/>
            <a:ext cx="3749040" cy="7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1" b="1">
                <a:solidFill>
                  <a:srgbClr val="113254"/>
                </a:solidFill>
                <a:latin typeface="Roboto Bold"/>
                <a:ea typeface="Roboto Bold"/>
                <a:cs typeface="Roboto Bold"/>
                <a:sym typeface="Roboto Bold"/>
              </a:rPr>
              <a:t>Unified view to review and approve leave and expenses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7181850" y="1495425"/>
            <a:ext cx="11106150" cy="7724775"/>
          </a:xfrm>
          <a:custGeom>
            <a:avLst/>
            <a:gdLst/>
            <a:ahLst/>
            <a:cxnLst/>
            <a:rect l="l" t="t" r="r" b="b"/>
            <a:pathLst>
              <a:path w="11106150" h="7724775">
                <a:moveTo>
                  <a:pt x="0" y="0"/>
                </a:moveTo>
                <a:lnTo>
                  <a:pt x="11106150" y="0"/>
                </a:lnTo>
                <a:lnTo>
                  <a:pt x="11106150" y="7724775"/>
                </a:lnTo>
                <a:lnTo>
                  <a:pt x="0" y="7724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267700" y="1924050"/>
            <a:ext cx="1752600" cy="6438900"/>
          </a:xfrm>
          <a:custGeom>
            <a:avLst/>
            <a:gdLst/>
            <a:ahLst/>
            <a:cxnLst/>
            <a:rect l="l" t="t" r="r" b="b"/>
            <a:pathLst>
              <a:path w="1752600" h="6438900">
                <a:moveTo>
                  <a:pt x="0" y="0"/>
                </a:moveTo>
                <a:lnTo>
                  <a:pt x="1752600" y="0"/>
                </a:lnTo>
                <a:lnTo>
                  <a:pt x="17526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595360" y="2221298"/>
            <a:ext cx="1060704" cy="2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8F3F0"/>
                </a:solidFill>
                <a:latin typeface="Roboto Bold"/>
                <a:ea typeface="Roboto Bold"/>
                <a:cs typeface="Roboto Bold"/>
                <a:sym typeface="Roboto Bold"/>
              </a:rPr>
              <a:t>HRMS Portal</a:t>
            </a:r>
          </a:p>
        </p:txBody>
      </p:sp>
      <p:sp>
        <p:nvSpPr>
          <p:cNvPr id="15" name="Freeform 15"/>
          <p:cNvSpPr/>
          <p:nvPr/>
        </p:nvSpPr>
        <p:spPr>
          <a:xfrm>
            <a:off x="8267700" y="257175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791700" y="1924050"/>
            <a:ext cx="7629525" cy="6438900"/>
          </a:xfrm>
          <a:custGeom>
            <a:avLst/>
            <a:gdLst/>
            <a:ahLst/>
            <a:cxnLst/>
            <a:rect l="l" t="t" r="r" b="b"/>
            <a:pathLst>
              <a:path w="7629525" h="6438900">
                <a:moveTo>
                  <a:pt x="0" y="0"/>
                </a:moveTo>
                <a:lnTo>
                  <a:pt x="7629525" y="0"/>
                </a:lnTo>
                <a:lnTo>
                  <a:pt x="7629525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22992" y="2191562"/>
            <a:ext cx="1060704" cy="290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 b="1">
                <a:solidFill>
                  <a:srgbClr val="113254"/>
                </a:solidFill>
                <a:latin typeface="Roboto Bold"/>
                <a:ea typeface="Roboto Bold"/>
                <a:cs typeface="Roboto Bold"/>
                <a:sym typeface="Roboto Bold"/>
              </a:rPr>
              <a:t>Dashboard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010775" y="2571750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972925" y="2571750"/>
            <a:ext cx="1743075" cy="1504950"/>
          </a:xfrm>
          <a:custGeom>
            <a:avLst/>
            <a:gdLst/>
            <a:ahLst/>
            <a:cxnLst/>
            <a:rect l="l" t="t" r="r" b="b"/>
            <a:pathLst>
              <a:path w="1743075" h="1504950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716000" y="2571750"/>
            <a:ext cx="1743075" cy="1504950"/>
          </a:xfrm>
          <a:custGeom>
            <a:avLst/>
            <a:gdLst/>
            <a:ahLst/>
            <a:cxnLst/>
            <a:rect l="l" t="t" r="r" b="b"/>
            <a:pathLst>
              <a:path w="1743075" h="1504950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449550" y="2571750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010775" y="4067175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3857625"/>
          </a:xfrm>
          <a:custGeom>
            <a:avLst/>
            <a:gdLst/>
            <a:ahLst/>
            <a:cxnLst/>
            <a:rect l="l" t="t" r="r" b="b"/>
            <a:pathLst>
              <a:path w="657225" h="3857625">
                <a:moveTo>
                  <a:pt x="0" y="0"/>
                </a:moveTo>
                <a:lnTo>
                  <a:pt x="657225" y="0"/>
                </a:lnTo>
                <a:lnTo>
                  <a:pt x="6572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61871" y="1246059"/>
            <a:ext cx="5491353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95"/>
              </a:lnSpc>
            </a:pPr>
            <a:r>
              <a:rPr lang="en-US" sz="8895" b="1" dirty="0">
                <a:solidFill>
                  <a:srgbClr val="1A335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1872" y="2470212"/>
            <a:ext cx="5824728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95"/>
              </a:lnSpc>
            </a:pPr>
            <a:r>
              <a:rPr lang="en-US" sz="8895" b="1" dirty="0">
                <a:solidFill>
                  <a:srgbClr val="D8633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OUTCOMES</a:t>
            </a:r>
          </a:p>
        </p:txBody>
      </p:sp>
      <p:sp>
        <p:nvSpPr>
          <p:cNvPr id="7" name="Freeform 7"/>
          <p:cNvSpPr/>
          <p:nvPr/>
        </p:nvSpPr>
        <p:spPr>
          <a:xfrm>
            <a:off x="1085850" y="3857625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61872" y="4393307"/>
            <a:ext cx="5596128" cy="88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Better visibility for sales management and consistent telecalling quality</a:t>
            </a:r>
          </a:p>
        </p:txBody>
      </p:sp>
      <p:sp>
        <p:nvSpPr>
          <p:cNvPr id="9" name="Freeform 9"/>
          <p:cNvSpPr/>
          <p:nvPr/>
        </p:nvSpPr>
        <p:spPr>
          <a:xfrm>
            <a:off x="1085850" y="5353050"/>
            <a:ext cx="5667375" cy="219075"/>
          </a:xfrm>
          <a:custGeom>
            <a:avLst/>
            <a:gdLst/>
            <a:ahLst/>
            <a:cxnLst/>
            <a:rect l="l" t="t" r="r" b="b"/>
            <a:pathLst>
              <a:path w="5667375" h="219075">
                <a:moveTo>
                  <a:pt x="0" y="0"/>
                </a:moveTo>
                <a:lnTo>
                  <a:pt x="5667375" y="0"/>
                </a:lnTo>
                <a:lnTo>
                  <a:pt x="5667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61872" y="5689469"/>
            <a:ext cx="5157216" cy="88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Centralized HR tracking with clear, auditable approval workflows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85850" y="6638925"/>
            <a:ext cx="5667375" cy="219075"/>
          </a:xfrm>
          <a:custGeom>
            <a:avLst/>
            <a:gdLst/>
            <a:ahLst/>
            <a:cxnLst/>
            <a:rect l="l" t="t" r="r" b="b"/>
            <a:pathLst>
              <a:path w="5667375" h="219075">
                <a:moveTo>
                  <a:pt x="0" y="0"/>
                </a:moveTo>
                <a:lnTo>
                  <a:pt x="5667375" y="0"/>
                </a:lnTo>
                <a:lnTo>
                  <a:pt x="5667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61872" y="7006205"/>
            <a:ext cx="5596128" cy="88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A scalable, reusable architecture built for smooth backend integration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85850" y="7924800"/>
            <a:ext cx="5667375" cy="219075"/>
          </a:xfrm>
          <a:custGeom>
            <a:avLst/>
            <a:gdLst/>
            <a:ahLst/>
            <a:cxnLst/>
            <a:rect l="l" t="t" r="r" b="b"/>
            <a:pathLst>
              <a:path w="5667375" h="219075">
                <a:moveTo>
                  <a:pt x="0" y="0"/>
                </a:moveTo>
                <a:lnTo>
                  <a:pt x="5667375" y="0"/>
                </a:lnTo>
                <a:lnTo>
                  <a:pt x="5667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61872" y="8312654"/>
            <a:ext cx="5596128" cy="88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Streamlined operations and improved workflow efficiency across teams</a:t>
            </a:r>
          </a:p>
        </p:txBody>
      </p:sp>
      <p:sp>
        <p:nvSpPr>
          <p:cNvPr id="15" name="Freeform 15"/>
          <p:cNvSpPr/>
          <p:nvPr/>
        </p:nvSpPr>
        <p:spPr>
          <a:xfrm>
            <a:off x="6962775" y="1495425"/>
            <a:ext cx="10896600" cy="8362950"/>
          </a:xfrm>
          <a:custGeom>
            <a:avLst/>
            <a:gdLst/>
            <a:ahLst/>
            <a:cxnLst/>
            <a:rect l="l" t="t" r="r" b="b"/>
            <a:pathLst>
              <a:path w="10896600" h="8362950">
                <a:moveTo>
                  <a:pt x="0" y="0"/>
                </a:moveTo>
                <a:lnTo>
                  <a:pt x="10896600" y="0"/>
                </a:lnTo>
                <a:lnTo>
                  <a:pt x="1089660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705850" y="1924050"/>
            <a:ext cx="1752600" cy="5791200"/>
          </a:xfrm>
          <a:custGeom>
            <a:avLst/>
            <a:gdLst/>
            <a:ahLst/>
            <a:cxnLst/>
            <a:rect l="l" t="t" r="r" b="b"/>
            <a:pathLst>
              <a:path w="1752600" h="5791200">
                <a:moveTo>
                  <a:pt x="0" y="0"/>
                </a:moveTo>
                <a:lnTo>
                  <a:pt x="1752600" y="0"/>
                </a:lnTo>
                <a:lnTo>
                  <a:pt x="17526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144000" y="257175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863072" y="3061902"/>
            <a:ext cx="877824" cy="5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 spc="-117">
                <a:solidFill>
                  <a:srgbClr val="D8633C"/>
                </a:solidFill>
                <a:latin typeface="Roboto Bold"/>
                <a:ea typeface="Roboto Bold"/>
                <a:cs typeface="Roboto Bold"/>
                <a:sym typeface="Roboto Bold"/>
              </a:rPr>
              <a:t>1,240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192000" y="2571750"/>
            <a:ext cx="1743075" cy="1504950"/>
          </a:xfrm>
          <a:custGeom>
            <a:avLst/>
            <a:gdLst/>
            <a:ahLst/>
            <a:cxnLst/>
            <a:rect l="l" t="t" r="r" b="b"/>
            <a:pathLst>
              <a:path w="1743075" h="1504950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655296" y="3061902"/>
            <a:ext cx="877824" cy="5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 spc="-117">
                <a:solidFill>
                  <a:srgbClr val="D8633C"/>
                </a:solidFill>
                <a:latin typeface="Roboto Bold"/>
                <a:ea typeface="Roboto Bold"/>
                <a:cs typeface="Roboto Bold"/>
                <a:sym typeface="Roboto Bold"/>
              </a:rPr>
              <a:t>8,675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925550" y="2571750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484096" y="3039890"/>
            <a:ext cx="694944" cy="54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4"/>
              </a:lnSpc>
            </a:pPr>
            <a:r>
              <a:rPr lang="en-US" sz="3081" b="1" spc="-123">
                <a:solidFill>
                  <a:srgbClr val="D8633C"/>
                </a:solidFill>
                <a:latin typeface="Roboto Bold"/>
                <a:ea typeface="Roboto Bold"/>
                <a:cs typeface="Roboto Bold"/>
                <a:sym typeface="Roboto Bold"/>
              </a:rPr>
              <a:t>18%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668625" y="2571750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6130016" y="3039890"/>
            <a:ext cx="694944" cy="54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4"/>
              </a:lnSpc>
            </a:pPr>
            <a:r>
              <a:rPr lang="en-US" sz="3081" b="1" spc="-123">
                <a:solidFill>
                  <a:srgbClr val="D8633C"/>
                </a:solidFill>
                <a:latin typeface="Roboto Bold"/>
                <a:ea typeface="Roboto Bold"/>
                <a:cs typeface="Roboto Bold"/>
                <a:sym typeface="Roboto Bold"/>
              </a:rPr>
              <a:t>96%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229850" y="4067175"/>
            <a:ext cx="2838450" cy="2581275"/>
          </a:xfrm>
          <a:custGeom>
            <a:avLst/>
            <a:gdLst/>
            <a:ahLst/>
            <a:cxnLst/>
            <a:rect l="l" t="t" r="r" b="b"/>
            <a:pathLst>
              <a:path w="2838450" h="2581275">
                <a:moveTo>
                  <a:pt x="0" y="0"/>
                </a:moveTo>
                <a:lnTo>
                  <a:pt x="2838450" y="0"/>
                </a:lnTo>
                <a:lnTo>
                  <a:pt x="2838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668000" y="4714875"/>
            <a:ext cx="2181225" cy="1504950"/>
          </a:xfrm>
          <a:custGeom>
            <a:avLst/>
            <a:gdLst/>
            <a:ahLst/>
            <a:cxnLst/>
            <a:rect l="l" t="t" r="r" b="b"/>
            <a:pathLst>
              <a:path w="2181225" h="1504950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533888" y="2162363"/>
            <a:ext cx="1024128" cy="3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1" spc="-70">
                <a:solidFill>
                  <a:srgbClr val="1A3355"/>
                </a:solidFill>
                <a:latin typeface="Roboto Bold"/>
                <a:ea typeface="Roboto Bold"/>
                <a:cs typeface="Roboto Bold"/>
                <a:sym typeface="Roboto Bold"/>
              </a:rPr>
              <a:t>Dashboard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35440" y="2613122"/>
            <a:ext cx="621792" cy="20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0" y="3076037"/>
            <a:ext cx="420624" cy="20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98864" y="3491379"/>
            <a:ext cx="694944" cy="19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Telecalling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8864" y="3898997"/>
            <a:ext cx="256032" cy="20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4000" y="4351625"/>
            <a:ext cx="694944" cy="20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Approvals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4822714"/>
            <a:ext cx="493776" cy="19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Reports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08208" y="2872046"/>
            <a:ext cx="987552" cy="18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5"/>
              </a:lnSpc>
            </a:pPr>
            <a:r>
              <a:rPr lang="en-US" sz="1025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Leads Generated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655296" y="2872046"/>
            <a:ext cx="950976" cy="18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5"/>
              </a:lnSpc>
            </a:pPr>
            <a:r>
              <a:rPr lang="en-US" sz="1025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Calls Completed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374368" y="2872497"/>
            <a:ext cx="987552" cy="18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060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Conversion Rate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111728" y="2863872"/>
            <a:ext cx="841248" cy="19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131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HR Requests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54512" y="3708844"/>
            <a:ext cx="640080" cy="1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This Month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65024" y="3708844"/>
            <a:ext cx="640080" cy="1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This Month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484096" y="3708844"/>
            <a:ext cx="640080" cy="1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This Month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66592" y="3695457"/>
            <a:ext cx="585216" cy="18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060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Approved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07440" y="5056542"/>
            <a:ext cx="585216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2407" b="1" spc="-96">
                <a:solidFill>
                  <a:srgbClr val="D8633C"/>
                </a:solidFill>
                <a:latin typeface="Roboto Bold"/>
                <a:ea typeface="Roboto Bold"/>
                <a:cs typeface="Roboto Bold"/>
                <a:sym typeface="Roboto Bold"/>
              </a:rPr>
              <a:t>92%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07040" y="4421521"/>
            <a:ext cx="950976" cy="19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096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Sales Overview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368528" y="4425834"/>
            <a:ext cx="1481328" cy="18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060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Telecalling Quality Score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361920" y="4425834"/>
            <a:ext cx="1060704" cy="18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060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Recent Approvals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361920" y="4886705"/>
            <a:ext cx="841248" cy="1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Leave Request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361920" y="5292973"/>
            <a:ext cx="804672" cy="16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954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Expense Claim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361920" y="5709665"/>
            <a:ext cx="694944" cy="1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Onboarding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270480" y="6121145"/>
            <a:ext cx="841248" cy="1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Policy Update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568928" y="4894880"/>
            <a:ext cx="493776" cy="14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883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Approved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568928" y="5306360"/>
            <a:ext cx="493776" cy="14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883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Approved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568928" y="5717840"/>
            <a:ext cx="493776" cy="14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883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Approved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6568928" y="6129320"/>
            <a:ext cx="493776" cy="14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883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Approved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862304" y="5515061"/>
            <a:ext cx="493776" cy="13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8"/>
              </a:lnSpc>
            </a:pPr>
            <a:r>
              <a:rPr lang="en-US" sz="741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This Month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771632" y="7224366"/>
            <a:ext cx="731520" cy="15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"/>
              </a:lnSpc>
            </a:pPr>
            <a:r>
              <a:rPr lang="en-US" sz="812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Request Raised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783312" y="7224366"/>
            <a:ext cx="640080" cy="15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"/>
              </a:lnSpc>
            </a:pPr>
            <a:r>
              <a:rPr lang="en-US" sz="812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Under Review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496544" y="7224366"/>
            <a:ext cx="841248" cy="15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"/>
              </a:lnSpc>
            </a:pPr>
            <a:r>
              <a:rPr lang="en-US" sz="812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Manager-Approval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160752" y="7353560"/>
            <a:ext cx="512064" cy="10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"/>
              </a:lnSpc>
            </a:pPr>
            <a:r>
              <a:rPr lang="en-US" sz="635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Final Approval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349472" y="7390308"/>
            <a:ext cx="585216" cy="157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6"/>
              </a:lnSpc>
            </a:pPr>
            <a:r>
              <a:rPr lang="en-US" sz="919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Completed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515600" y="6653800"/>
            <a:ext cx="1024128" cy="19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096">
                <a:solidFill>
                  <a:srgbClr val="1A3355"/>
                </a:solidFill>
                <a:latin typeface="Roboto"/>
                <a:ea typeface="Roboto"/>
                <a:cs typeface="Roboto"/>
                <a:sym typeface="Roboto"/>
              </a:rPr>
              <a:t>Workflow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657225" cy="2571750"/>
          </a:xfrm>
          <a:custGeom>
            <a:avLst/>
            <a:gdLst/>
            <a:ahLst/>
            <a:cxnLst/>
            <a:rect l="l" t="t" r="r" b="b"/>
            <a:pathLst>
              <a:path w="657225" h="2571750">
                <a:moveTo>
                  <a:pt x="0" y="0"/>
                </a:moveTo>
                <a:lnTo>
                  <a:pt x="657225" y="0"/>
                </a:lnTo>
                <a:lnTo>
                  <a:pt x="657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657225" cy="3219450"/>
          </a:xfrm>
          <a:custGeom>
            <a:avLst/>
            <a:gdLst/>
            <a:ahLst/>
            <a:cxnLst/>
            <a:rect l="l" t="t" r="r" b="b"/>
            <a:pathLst>
              <a:path w="657225" h="3219450">
                <a:moveTo>
                  <a:pt x="0" y="0"/>
                </a:moveTo>
                <a:lnTo>
                  <a:pt x="657225" y="0"/>
                </a:lnTo>
                <a:lnTo>
                  <a:pt x="657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6736" y="1183072"/>
            <a:ext cx="6035040" cy="112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b="1">
                <a:solidFill>
                  <a:srgbClr val="00234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304925" y="2352675"/>
            <a:ext cx="1533525" cy="219075"/>
          </a:xfrm>
          <a:custGeom>
            <a:avLst/>
            <a:gdLst/>
            <a:ahLst/>
            <a:cxnLst/>
            <a:rect l="l" t="t" r="r" b="b"/>
            <a:pathLst>
              <a:path w="1533525" h="21907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53312" y="3126344"/>
            <a:ext cx="6345936" cy="87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1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Delivered fully interactive</a:t>
            </a:r>
          </a:p>
          <a:p>
            <a:pPr algn="l">
              <a:lnSpc>
                <a:spcPts val="3470"/>
              </a:lnSpc>
            </a:pPr>
            <a:r>
              <a:rPr lang="en-US" sz="2478" b="1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static prototypes for </a:t>
            </a:r>
            <a:r>
              <a:rPr lang="en-US" sz="2478" b="1">
                <a:solidFill>
                  <a:srgbClr val="D84B14"/>
                </a:solidFill>
                <a:latin typeface="Roboto Bold"/>
                <a:ea typeface="Roboto Bold"/>
                <a:cs typeface="Roboto Bold"/>
                <a:sym typeface="Roboto Bold"/>
              </a:rPr>
              <a:t>CRM and HRMS</a:t>
            </a:r>
            <a:r>
              <a:rPr lang="en-US" sz="2478" b="1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 portals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3312" y="4272364"/>
            <a:ext cx="6114288" cy="2274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9"/>
              </a:lnSpc>
            </a:pPr>
            <a:r>
              <a:rPr lang="en-US" sz="2550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Gained hands-on experience in </a:t>
            </a:r>
            <a:r>
              <a:rPr lang="en-US" sz="2550" b="1" dirty="0">
                <a:solidFill>
                  <a:srgbClr val="D84B14"/>
                </a:solidFill>
                <a:latin typeface="Roboto Bold"/>
                <a:ea typeface="Roboto Bold"/>
                <a:cs typeface="Roboto Bold"/>
                <a:sym typeface="Roboto Bold"/>
              </a:rPr>
              <a:t>AI Tools </a:t>
            </a:r>
            <a:r>
              <a:rPr lang="en-US" sz="2550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such as  Gemini, </a:t>
            </a:r>
            <a:r>
              <a:rPr lang="en-US" sz="2550" b="1" dirty="0" err="1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Chatgpt</a:t>
            </a:r>
            <a:r>
              <a:rPr lang="en-US" sz="2550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 and Claude for </a:t>
            </a:r>
            <a:r>
              <a:rPr lang="en-US" sz="2549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549" b="1" dirty="0">
                <a:solidFill>
                  <a:srgbClr val="D84B14"/>
                </a:solidFill>
                <a:latin typeface="Roboto Bold"/>
                <a:ea typeface="Roboto Bold"/>
                <a:cs typeface="Roboto Bold"/>
                <a:sym typeface="Roboto Bold"/>
              </a:rPr>
              <a:t>Web Development </a:t>
            </a:r>
            <a:r>
              <a:rPr lang="en-US" sz="2550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including effective </a:t>
            </a:r>
            <a:r>
              <a:rPr lang="en-US" sz="2550" b="1" dirty="0">
                <a:solidFill>
                  <a:srgbClr val="D84B14"/>
                </a:solidFill>
                <a:latin typeface="Roboto Bold"/>
                <a:ea typeface="Roboto Bold"/>
                <a:cs typeface="Roboto Bold"/>
                <a:sym typeface="Roboto Bold"/>
              </a:rPr>
              <a:t>Prompt Writing</a:t>
            </a:r>
            <a:r>
              <a:rPr lang="en-US" sz="2550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, AI- assisted coding, and website </a:t>
            </a:r>
            <a:r>
              <a:rPr lang="en-US" sz="2550" b="1" dirty="0" err="1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developmente</a:t>
            </a:r>
            <a:r>
              <a:rPr lang="en-US" sz="2550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6273" y="6967537"/>
            <a:ext cx="5907024" cy="8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Strengthened understanding of </a:t>
            </a:r>
            <a:r>
              <a:rPr lang="en-US" sz="2337" b="1" dirty="0">
                <a:solidFill>
                  <a:srgbClr val="D84B14"/>
                </a:solidFill>
                <a:latin typeface="Roboto Bold"/>
                <a:ea typeface="Roboto Bold"/>
                <a:cs typeface="Roboto Bold"/>
                <a:sym typeface="Roboto Bold"/>
              </a:rPr>
              <a:t>user-centric design</a:t>
            </a:r>
            <a:r>
              <a:rPr lang="en-US" sz="2337" b="1" dirty="0">
                <a:solidFill>
                  <a:srgbClr val="002344"/>
                </a:solidFill>
                <a:latin typeface="Roboto Bold"/>
                <a:ea typeface="Roboto Bold"/>
                <a:cs typeface="Roboto Bold"/>
                <a:sym typeface="Roboto Bold"/>
              </a:rPr>
              <a:t> and portal workflows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3312" y="8188519"/>
            <a:ext cx="5705856" cy="112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b="1">
                <a:solidFill>
                  <a:srgbClr val="D84B1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3312" y="9097220"/>
            <a:ext cx="6345936" cy="39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1">
                <a:solidFill>
                  <a:srgbClr val="002344"/>
                </a:solidFill>
                <a:latin typeface="Roboto"/>
                <a:ea typeface="Roboto"/>
                <a:cs typeface="Roboto"/>
                <a:sym typeface="Roboto"/>
              </a:rPr>
              <a:t>for the opportunity to learn, contribute, and grow.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753850" y="1495425"/>
            <a:ext cx="6534150" cy="6438900"/>
          </a:xfrm>
          <a:custGeom>
            <a:avLst/>
            <a:gdLst/>
            <a:ahLst/>
            <a:cxnLst/>
            <a:rect l="l" t="t" r="r" b="b"/>
            <a:pathLst>
              <a:path w="6534150" h="6438900">
                <a:moveTo>
                  <a:pt x="0" y="0"/>
                </a:moveTo>
                <a:lnTo>
                  <a:pt x="6534150" y="0"/>
                </a:lnTo>
                <a:lnTo>
                  <a:pt x="653415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829550" y="4714875"/>
            <a:ext cx="7200900" cy="4505325"/>
          </a:xfrm>
          <a:custGeom>
            <a:avLst/>
            <a:gdLst/>
            <a:ahLst/>
            <a:cxnLst/>
            <a:rect l="l" t="t" r="r" b="b"/>
            <a:pathLst>
              <a:path w="7200900" h="4505325">
                <a:moveTo>
                  <a:pt x="0" y="0"/>
                </a:moveTo>
                <a:lnTo>
                  <a:pt x="7200900" y="0"/>
                </a:lnTo>
                <a:lnTo>
                  <a:pt x="720090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558</Words>
  <Application>Microsoft Office PowerPoint</Application>
  <PresentationFormat>Custom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Condensed</vt:lpstr>
      <vt:lpstr>Roboto</vt:lpstr>
      <vt:lpstr>Arial</vt:lpstr>
      <vt:lpstr>Roboto Condensed Bold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Indore</dc:title>
  <cp:lastModifiedBy>Aadish Jain</cp:lastModifiedBy>
  <cp:revision>4</cp:revision>
  <dcterms:created xsi:type="dcterms:W3CDTF">2006-08-16T00:00:00Z</dcterms:created>
  <dcterms:modified xsi:type="dcterms:W3CDTF">2026-08-30T13:21:52Z</dcterms:modified>
  <dc:identifier>DAHTvDKcRsM</dc:identifier>
</cp:coreProperties>
</file>